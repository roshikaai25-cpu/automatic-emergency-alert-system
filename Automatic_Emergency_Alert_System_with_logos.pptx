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753600"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2723332"/>
            <a:ext cx="8128000" cy="1651000"/>
          </a:xfrm>
          <a:prstGeom prst="rect">
            <a:avLst/>
          </a:prstGeom>
          <a:noFill/>
        </p:spPr>
        <p:txBody>
          <a:bodyPr wrap="square" lIns="0" rIns="0" tIns="0" bIns="0" anchor="t">
            <a:noAutofit/>
          </a:bodyPr>
          <a:lstStyle/>
          <a:p>
            <a:pPr algn="ctr" marL="0" indent="0">
              <a:buNone/>
            </a:pPr>
            <a:r>
              <a:rPr sz="5520">
                <a:solidFill>
                  <a:srgbClr val="000000"/>
                </a:solidFill>
                <a:latin typeface="Calibri"/>
              </a:rPr>
              <a:t>Automatic Emergency Alert System</a:t>
            </a:r>
          </a:p>
        </p:txBody>
      </p:sp>
      <p:pic>
        <p:nvPicPr>
          <p:cNvPr id="3" name="Picture 2" descr="1000004166.jpg"/>
          <p:cNvPicPr>
            <a:picLocks noChangeAspect="1"/>
          </p:cNvPicPr>
          <p:nvPr/>
        </p:nvPicPr>
        <p:blipFill>
          <a:blip r:embed="rId2"/>
          <a:stretch>
            <a:fillRect/>
          </a:stretch>
        </p:blipFill>
        <p:spPr>
          <a:xfrm>
            <a:off x="164592" y="164592"/>
            <a:ext cx="777240" cy="623917"/>
          </a:xfrm>
          <a:prstGeom prst="rect">
            <a:avLst/>
          </a:prstGeom>
        </p:spPr>
      </p:pic>
      <p:pic>
        <p:nvPicPr>
          <p:cNvPr id="4" name="Picture 3"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30400" y="220695"/>
            <a:ext cx="5080000" cy="729742"/>
          </a:xfrm>
          <a:prstGeom prst="rect">
            <a:avLst/>
          </a:prstGeom>
          <a:noFill/>
        </p:spPr>
        <p:txBody>
          <a:bodyPr wrap="square" lIns="0" rIns="0" tIns="0" bIns="0" anchor="t">
            <a:noAutofit/>
          </a:bodyPr>
          <a:lstStyle/>
          <a:p>
            <a:pPr algn="ctr" marL="0" indent="0">
              <a:buNone/>
            </a:pPr>
            <a:r>
              <a:rPr sz="4420">
                <a:solidFill>
                  <a:srgbClr val="000000"/>
                </a:solidFill>
                <a:latin typeface="Calibri"/>
              </a:rPr>
              <a:t>Contents:</a:t>
            </a:r>
          </a:p>
        </p:txBody>
      </p:sp>
      <p:sp>
        <p:nvSpPr>
          <p:cNvPr id="3" name="TextBox 2"/>
          <p:cNvSpPr txBox="1"/>
          <p:nvPr/>
        </p:nvSpPr>
        <p:spPr>
          <a:xfrm>
            <a:off x="1981200" y="1563085"/>
            <a:ext cx="7416800" cy="5511800"/>
          </a:xfrm>
          <a:prstGeom prst="rect">
            <a:avLst/>
          </a:prstGeom>
          <a:noFill/>
        </p:spPr>
        <p:txBody>
          <a:bodyPr wrap="square" lIns="0" rIns="0" tIns="0" bIns="0" anchor="t">
            <a:noAutofit/>
          </a:bodyPr>
          <a:lstStyle/>
          <a:p>
            <a:pPr algn="l" marL="342900" indent="-342900">
              <a:lnSpc>
                <a:spcPct val="100884"/>
              </a:lnSpc>
              <a:buFont typeface="Arial"/>
              <a:buChar char="•"/>
            </a:pPr>
            <a:r>
              <a:rPr sz="4420">
                <a:solidFill>
                  <a:srgbClr val="000000"/>
                </a:solidFill>
                <a:latin typeface="Calibri"/>
              </a:rPr>
              <a:t>Project Title</a:t>
            </a:r>
          </a:p>
          <a:p>
            <a:pPr algn="l" marL="342900" indent="-342900">
              <a:lnSpc>
                <a:spcPct val="100884"/>
              </a:lnSpc>
              <a:buFont typeface="Arial"/>
              <a:buChar char="•"/>
            </a:pPr>
            <a:r>
              <a:rPr sz="4420">
                <a:solidFill>
                  <a:srgbClr val="000000"/>
                </a:solidFill>
                <a:latin typeface="Calibri"/>
              </a:rPr>
              <a:t>Objective</a:t>
            </a:r>
          </a:p>
          <a:p>
            <a:pPr algn="l" marL="342900" indent="-342900">
              <a:lnSpc>
                <a:spcPct val="100884"/>
              </a:lnSpc>
              <a:buFont typeface="Arial"/>
              <a:buChar char="•"/>
            </a:pPr>
            <a:r>
              <a:rPr sz="4420">
                <a:solidFill>
                  <a:srgbClr val="000000"/>
                </a:solidFill>
                <a:latin typeface="Calibri"/>
              </a:rPr>
              <a:t>Problem Identification</a:t>
            </a:r>
          </a:p>
          <a:p>
            <a:pPr algn="l" marL="342900" indent="-342900">
              <a:lnSpc>
                <a:spcPct val="100884"/>
              </a:lnSpc>
              <a:buFont typeface="Arial"/>
              <a:buChar char="•"/>
            </a:pPr>
            <a:r>
              <a:rPr sz="4420">
                <a:solidFill>
                  <a:srgbClr val="000000"/>
                </a:solidFill>
                <a:latin typeface="Calibri"/>
              </a:rPr>
              <a:t>Flow Diagram</a:t>
            </a:r>
          </a:p>
          <a:p>
            <a:pPr algn="l" marL="342900" indent="-342900">
              <a:lnSpc>
                <a:spcPct val="100884"/>
              </a:lnSpc>
              <a:buFont typeface="Arial"/>
              <a:buChar char="•"/>
            </a:pPr>
            <a:r>
              <a:rPr sz="4420">
                <a:solidFill>
                  <a:srgbClr val="000000"/>
                </a:solidFill>
                <a:latin typeface="Calibri"/>
              </a:rPr>
              <a:t>Literature Surv.ey</a:t>
            </a:r>
          </a:p>
          <a:p>
            <a:pPr algn="l" marL="342900" indent="-342900">
              <a:lnSpc>
                <a:spcPct val="100884"/>
              </a:lnSpc>
              <a:buFont typeface="Arial"/>
              <a:buChar char="•"/>
            </a:pPr>
            <a:r>
              <a:rPr sz="4420">
                <a:solidFill>
                  <a:srgbClr val="000000"/>
                </a:solidFill>
                <a:latin typeface="Calibri"/>
              </a:rPr>
              <a:t>Research Methodology</a:t>
            </a:r>
          </a:p>
          <a:p>
            <a:pPr algn="l" marL="342900" indent="-342900">
              <a:lnSpc>
                <a:spcPct val="100884"/>
              </a:lnSpc>
              <a:buFont typeface="Arial"/>
              <a:buChar char="•"/>
            </a:pPr>
            <a:r>
              <a:rPr sz="4420">
                <a:solidFill>
                  <a:srgbClr val="000000"/>
                </a:solidFill>
                <a:latin typeface="Calibri"/>
              </a:rPr>
              <a:t>Modules(5 modules)</a:t>
            </a:r>
          </a:p>
          <a:p>
            <a:pPr algn="l" marL="342900" indent="-342900">
              <a:lnSpc>
                <a:spcPct val="100884"/>
              </a:lnSpc>
              <a:buFont typeface="Arial"/>
              <a:buChar char="•"/>
            </a:pPr>
            <a:r>
              <a:rPr sz="4420">
                <a:solidFill>
                  <a:srgbClr val="000000"/>
                </a:solidFill>
                <a:latin typeface="Calibri"/>
              </a:rPr>
              <a:t>Conclusion</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6800" y="220096"/>
            <a:ext cx="5080000" cy="896493"/>
          </a:xfrm>
          <a:prstGeom prst="rect">
            <a:avLst/>
          </a:prstGeom>
          <a:noFill/>
        </p:spPr>
        <p:txBody>
          <a:bodyPr wrap="square" lIns="0" rIns="0" tIns="0" bIns="0" anchor="t">
            <a:noAutofit/>
          </a:bodyPr>
          <a:lstStyle/>
          <a:p>
            <a:pPr algn="ctr" marL="0" indent="0">
              <a:buNone/>
            </a:pPr>
            <a:r>
              <a:rPr sz="5430">
                <a:solidFill>
                  <a:srgbClr val="000000"/>
                </a:solidFill>
                <a:latin typeface="Calibri"/>
              </a:rPr>
              <a:t>Objective</a:t>
            </a:r>
          </a:p>
        </p:txBody>
      </p:sp>
      <p:sp>
        <p:nvSpPr>
          <p:cNvPr id="3" name="TextBox 2"/>
          <p:cNvSpPr txBox="1"/>
          <p:nvPr/>
        </p:nvSpPr>
        <p:spPr>
          <a:xfrm>
            <a:off x="584200" y="1573255"/>
            <a:ext cx="8813800" cy="5549900"/>
          </a:xfrm>
          <a:prstGeom prst="rect">
            <a:avLst/>
          </a:prstGeom>
          <a:noFill/>
        </p:spPr>
        <p:txBody>
          <a:bodyPr wrap="square" lIns="0" rIns="0" tIns="0" bIns="0" anchor="t">
            <a:noAutofit/>
          </a:bodyPr>
          <a:lstStyle/>
          <a:p>
            <a:pPr algn="l" marL="342900" indent="-342900">
              <a:lnSpc>
                <a:spcPct val="100399"/>
              </a:lnSpc>
              <a:buFont typeface="Arial"/>
              <a:buChar char="•"/>
            </a:pPr>
            <a:r>
              <a:rPr sz="3279">
                <a:solidFill>
                  <a:srgbClr val="000000"/>
                </a:solidFill>
                <a:latin typeface="Calibri"/>
              </a:rPr>
              <a:t>To detect emergency situations automatically.</a:t>
            </a:r>
          </a:p>
          <a:p>
            <a:pPr algn="l" marL="342900" indent="-342900">
              <a:lnSpc>
                <a:spcPct val="100399"/>
              </a:lnSpc>
              <a:buFont typeface="Arial"/>
              <a:buChar char="•"/>
            </a:pPr>
            <a:r>
              <a:rPr sz="3279">
                <a:solidFill>
                  <a:srgbClr val="000000"/>
                </a:solidFill>
                <a:latin typeface="Calibri"/>
              </a:rPr>
              <a:t>To send an alert message without delay.</a:t>
            </a:r>
          </a:p>
          <a:p>
            <a:pPr algn="l" marL="342900" indent="-342900">
              <a:lnSpc>
                <a:spcPct val="100399"/>
              </a:lnSpc>
              <a:buFont typeface="Arial"/>
              <a:buChar char="•"/>
            </a:pPr>
            <a:r>
              <a:rPr sz="3279">
                <a:solidFill>
                  <a:srgbClr val="000000"/>
                </a:solidFill>
                <a:latin typeface="Calibri"/>
              </a:rPr>
              <a:t>To identify the user's location using GPS.</a:t>
            </a:r>
          </a:p>
          <a:p>
            <a:pPr algn="l" marL="342900" indent="-342900">
              <a:lnSpc>
                <a:spcPct val="100399"/>
              </a:lnSpc>
              <a:buFont typeface="Arial"/>
              <a:buChar char="•"/>
            </a:pPr>
            <a:r>
              <a:rPr sz="3279">
                <a:solidFill>
                  <a:srgbClr val="000000"/>
                </a:solidFill>
                <a:latin typeface="Calibri"/>
              </a:rPr>
              <a:t>To notify family members, friends, or emergency services.</a:t>
            </a:r>
          </a:p>
          <a:p>
            <a:pPr algn="l" marL="342900" indent="-342900">
              <a:lnSpc>
                <a:spcPct val="100399"/>
              </a:lnSpc>
              <a:buFont typeface="Arial"/>
              <a:buChar char="•"/>
            </a:pPr>
            <a:r>
              <a:rPr sz="3279">
                <a:solidFill>
                  <a:srgbClr val="000000"/>
                </a:solidFill>
                <a:latin typeface="Calibri"/>
              </a:rPr>
              <a:t>To reduce the response time during emergencies.</a:t>
            </a:r>
          </a:p>
          <a:p>
            <a:pPr algn="l" marL="342900" indent="-342900">
              <a:lnSpc>
                <a:spcPct val="100399"/>
              </a:lnSpc>
              <a:buFont typeface="Arial"/>
              <a:buChar char="•"/>
            </a:pPr>
            <a:r>
              <a:rPr sz="3279">
                <a:solidFill>
                  <a:srgbClr val="000000"/>
                </a:solidFill>
                <a:latin typeface="Calibri"/>
              </a:rPr>
              <a:t>To improve personal safety using technology.</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20800" y="296458"/>
            <a:ext cx="7112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Problem Identification</a:t>
            </a:r>
          </a:p>
        </p:txBody>
      </p:sp>
      <p:sp>
        <p:nvSpPr>
          <p:cNvPr id="3" name="TextBox 2"/>
          <p:cNvSpPr txBox="1"/>
          <p:nvPr/>
        </p:nvSpPr>
        <p:spPr>
          <a:xfrm>
            <a:off x="965200" y="1637243"/>
            <a:ext cx="8204200" cy="5461000"/>
          </a:xfrm>
          <a:prstGeom prst="rect">
            <a:avLst/>
          </a:prstGeom>
          <a:noFill/>
        </p:spPr>
        <p:txBody>
          <a:bodyPr wrap="square" lIns="0" rIns="0" tIns="0" bIns="0" anchor="t">
            <a:noAutofit/>
          </a:bodyPr>
          <a:lstStyle/>
          <a:p>
            <a:pPr algn="l" marL="342900" indent="-342900">
              <a:lnSpc>
                <a:spcPct val="100441"/>
              </a:lnSpc>
              <a:buFont typeface="Arial"/>
              <a:buChar char="•"/>
            </a:pPr>
            <a:r>
              <a:rPr sz="3560">
                <a:solidFill>
                  <a:srgbClr val="000000"/>
                </a:solidFill>
                <a:latin typeface="Calibri"/>
              </a:rPr>
              <a:t>Emergencies can happen suddenly.</a:t>
            </a:r>
          </a:p>
          <a:p>
            <a:pPr algn="l" marL="342900" indent="-342900">
              <a:lnSpc>
                <a:spcPct val="100441"/>
              </a:lnSpc>
              <a:buFont typeface="Arial"/>
              <a:buChar char="•"/>
            </a:pPr>
            <a:r>
              <a:rPr sz="3560">
                <a:solidFill>
                  <a:srgbClr val="000000"/>
                </a:solidFill>
                <a:latin typeface="Calibri"/>
              </a:rPr>
              <a:t>A person may be unable to call for help.</a:t>
            </a:r>
          </a:p>
          <a:p>
            <a:pPr algn="l" marL="342900" indent="-342900">
              <a:lnSpc>
                <a:spcPct val="100441"/>
              </a:lnSpc>
              <a:buFont typeface="Arial"/>
              <a:buChar char="•"/>
            </a:pPr>
            <a:r>
              <a:rPr sz="3560">
                <a:solidFill>
                  <a:srgbClr val="000000"/>
                </a:solidFill>
                <a:latin typeface="Calibri"/>
              </a:rPr>
              <a:t>Manual alerts can cause delay.</a:t>
            </a:r>
          </a:p>
          <a:p>
            <a:pPr algn="l" marL="342900" indent="-342900">
              <a:lnSpc>
                <a:spcPct val="100441"/>
              </a:lnSpc>
              <a:buFont typeface="Arial"/>
              <a:buChar char="•"/>
            </a:pPr>
            <a:r>
              <a:rPr sz="3560">
                <a:solidFill>
                  <a:srgbClr val="000000"/>
                </a:solidFill>
                <a:latin typeface="Calibri"/>
              </a:rPr>
              <a:t>Family members may not know the exact location.</a:t>
            </a:r>
          </a:p>
          <a:p>
            <a:pPr algn="l" marL="342900" indent="-342900">
              <a:lnSpc>
                <a:spcPct val="100441"/>
              </a:lnSpc>
              <a:buFont typeface="Arial"/>
              <a:buChar char="•"/>
            </a:pPr>
            <a:r>
              <a:rPr sz="3560">
                <a:solidFill>
                  <a:srgbClr val="000000"/>
                </a:solidFill>
                <a:latin typeface="Calibri"/>
              </a:rPr>
              <a:t>So, an automatic alert system is needed.</a:t>
            </a:r>
          </a:p>
          <a:p>
            <a:pPr algn="l" marL="342900" indent="-342900">
              <a:lnSpc>
                <a:spcPct val="100441"/>
              </a:lnSpc>
              <a:buFont typeface="Arial"/>
              <a:buChar char="•"/>
            </a:pPr>
            <a:r>
              <a:rPr sz="3560">
                <a:solidFill>
                  <a:srgbClr val="000000"/>
                </a:solidFill>
                <a:latin typeface="Calibri"/>
              </a:rPr>
              <a:t>The system detects the emergency and sends an alert with GPS location.</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8250" y="109768"/>
            <a:ext cx="5080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Flow Diagram</a:t>
            </a:r>
          </a:p>
        </p:txBody>
      </p:sp>
      <p:pic>
        <p:nvPicPr>
          <p:cNvPr id="3" name="Picture 2" descr="img-000.png"/>
          <p:cNvPicPr>
            <a:picLocks noChangeAspect="1"/>
          </p:cNvPicPr>
          <p:nvPr/>
        </p:nvPicPr>
        <p:blipFill>
          <a:blip r:embed="rId2"/>
          <a:stretch>
            <a:fillRect/>
          </a:stretch>
        </p:blipFill>
        <p:spPr>
          <a:xfrm>
            <a:off x="1816100" y="1041400"/>
            <a:ext cx="5778500" cy="6172200"/>
          </a:xfrm>
          <a:prstGeom prst="rect">
            <a:avLst/>
          </a:prstGeom>
        </p:spPr>
      </p:pic>
      <p:pic>
        <p:nvPicPr>
          <p:cNvPr id="4" name="Picture 3" descr="1000004166.jpg"/>
          <p:cNvPicPr>
            <a:picLocks noChangeAspect="1"/>
          </p:cNvPicPr>
          <p:nvPr/>
        </p:nvPicPr>
        <p:blipFill>
          <a:blip r:embed="rId3"/>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4"/>
          <a:stretch>
            <a:fillRect/>
          </a:stretch>
        </p:blipFill>
        <p:spPr>
          <a:xfrm>
            <a:off x="8811768" y="164592"/>
            <a:ext cx="777240" cy="777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197100" y="140248"/>
            <a:ext cx="6096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Literature Survey</a:t>
            </a:r>
          </a:p>
        </p:txBody>
      </p:sp>
      <p:sp>
        <p:nvSpPr>
          <p:cNvPr id="3" name="TextBox 2"/>
          <p:cNvSpPr txBox="1"/>
          <p:nvPr/>
        </p:nvSpPr>
        <p:spPr>
          <a:xfrm>
            <a:off x="736600" y="1022471"/>
            <a:ext cx="8940800" cy="6070600"/>
          </a:xfrm>
          <a:prstGeom prst="rect">
            <a:avLst/>
          </a:prstGeom>
          <a:noFill/>
        </p:spPr>
        <p:txBody>
          <a:bodyPr wrap="square" lIns="0" rIns="0" tIns="0" bIns="0" anchor="t">
            <a:noAutofit/>
          </a:bodyPr>
          <a:lstStyle/>
          <a:p>
            <a:pPr algn="l" marL="0" indent="0">
              <a:lnSpc>
                <a:spcPct val="100234"/>
              </a:lnSpc>
              <a:buNone/>
            </a:pPr>
            <a:r>
              <a:rPr sz="3820">
                <a:solidFill>
                  <a:srgbClr val="000000"/>
                </a:solidFill>
                <a:latin typeface="Calibri"/>
              </a:rPr>
              <a:t>2023: IoT-based systems were used for real-time emergency detection.</a:t>
            </a:r>
          </a:p>
          <a:p>
            <a:pPr algn="l" marL="0" indent="0">
              <a:lnSpc>
                <a:spcPct val="100234"/>
              </a:lnSpc>
              <a:buNone/>
            </a:pPr>
            <a:r>
              <a:rPr sz="3820">
                <a:solidFill>
                  <a:srgbClr val="000000"/>
                </a:solidFill>
                <a:latin typeface="Calibri"/>
              </a:rPr>
              <a:t>2023: Machine Learning was used for accident detection.</a:t>
            </a:r>
          </a:p>
          <a:p>
            <a:pPr algn="l" marL="0" indent="0">
              <a:lnSpc>
                <a:spcPct val="100234"/>
              </a:lnSpc>
              <a:buNone/>
            </a:pPr>
            <a:r>
              <a:rPr sz="3820">
                <a:solidFill>
                  <a:srgbClr val="000000"/>
                </a:solidFill>
                <a:latin typeface="Calibri"/>
              </a:rPr>
              <a:t>2024: AI methods improved emergency and abnormal activity detection.</a:t>
            </a:r>
          </a:p>
          <a:p>
            <a:pPr algn="l" marL="0" indent="0">
              <a:lnSpc>
                <a:spcPct val="100234"/>
              </a:lnSpc>
              <a:buNone/>
            </a:pPr>
            <a:r>
              <a:rPr sz="3820">
                <a:solidFill>
                  <a:srgbClr val="000000"/>
                </a:solidFill>
                <a:latin typeface="Calibri"/>
              </a:rPr>
              <a:t>2024: GPS and IoT were used to send quick location alerts.</a:t>
            </a:r>
          </a:p>
          <a:p>
            <a:pPr algn="l" marL="0" indent="0">
              <a:lnSpc>
                <a:spcPct val="100234"/>
              </a:lnSpc>
              <a:buNone/>
            </a:pPr>
            <a:r>
              <a:rPr sz="3820">
                <a:solidFill>
                  <a:srgbClr val="000000"/>
                </a:solidFill>
                <a:latin typeface="Calibri"/>
              </a:rPr>
              <a:t>2025: Deep Learning improved accident and emergency recognition.</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6100" y="760303"/>
            <a:ext cx="9182100" cy="6337300"/>
          </a:xfrm>
          <a:prstGeom prst="rect">
            <a:avLst/>
          </a:prstGeom>
          <a:noFill/>
        </p:spPr>
        <p:txBody>
          <a:bodyPr wrap="square" lIns="0" rIns="0" tIns="0" bIns="0" anchor="t">
            <a:noAutofit/>
          </a:bodyPr>
          <a:lstStyle/>
          <a:p>
            <a:pPr algn="l" marL="342900" indent="-342900">
              <a:lnSpc>
                <a:spcPct val="100396"/>
              </a:lnSpc>
              <a:buFont typeface="Arial"/>
              <a:buChar char="•"/>
            </a:pPr>
            <a:r>
              <a:rPr sz="4130">
                <a:solidFill>
                  <a:srgbClr val="000000"/>
                </a:solidFill>
                <a:latin typeface="Calibri"/>
              </a:rPr>
              <a:t>2025: Mobile applications provided automatic emergency notifications.</a:t>
            </a:r>
          </a:p>
          <a:p>
            <a:pPr algn="l" marL="342900" indent="-342900">
              <a:lnSpc>
                <a:spcPct val="100396"/>
              </a:lnSpc>
              <a:buFont typeface="Arial"/>
              <a:buChar char="•"/>
            </a:pPr>
            <a:r>
              <a:rPr sz="4130">
                <a:solidFill>
                  <a:srgbClr val="000000"/>
                </a:solidFill>
                <a:latin typeface="Calibri"/>
              </a:rPr>
              <a:t>2026: AI + IoT systems focused on faster emergency response.</a:t>
            </a:r>
          </a:p>
          <a:p>
            <a:pPr algn="l" marL="342900" indent="-342900">
              <a:lnSpc>
                <a:spcPct val="100396"/>
              </a:lnSpc>
              <a:buFont typeface="Arial"/>
              <a:buChar char="•"/>
            </a:pPr>
            <a:r>
              <a:rPr sz="4130">
                <a:solidFill>
                  <a:srgbClr val="000000"/>
                </a:solidFill>
                <a:latin typeface="Calibri"/>
              </a:rPr>
              <a:t>Research Gap:</a:t>
            </a:r>
          </a:p>
          <a:p>
            <a:pPr algn="l" marL="342900" indent="-342900">
              <a:lnSpc>
                <a:spcPct val="100396"/>
              </a:lnSpc>
              <a:buFont typeface="Arial"/>
              <a:buChar char="•"/>
            </a:pPr>
            <a:r>
              <a:rPr sz="4130">
                <a:solidFill>
                  <a:srgbClr val="000000"/>
                </a:solidFill>
                <a:latin typeface="Calibri"/>
              </a:rPr>
              <a:t>Existing systems mainly focus on detection or notification separately. Our system combines ML detection + GPS location + automatic alert in one system.</a:t>
            </a:r>
          </a:p>
        </p:txBody>
      </p:sp>
      <p:pic>
        <p:nvPicPr>
          <p:cNvPr id="3" name="Picture 2" descr="1000004166.jpg"/>
          <p:cNvPicPr>
            <a:picLocks noChangeAspect="1"/>
          </p:cNvPicPr>
          <p:nvPr/>
        </p:nvPicPr>
        <p:blipFill>
          <a:blip r:embed="rId2"/>
          <a:stretch>
            <a:fillRect/>
          </a:stretch>
        </p:blipFill>
        <p:spPr>
          <a:xfrm>
            <a:off x="164592" y="164592"/>
            <a:ext cx="777240" cy="623917"/>
          </a:xfrm>
          <a:prstGeom prst="rect">
            <a:avLst/>
          </a:prstGeom>
        </p:spPr>
      </p:pic>
      <p:pic>
        <p:nvPicPr>
          <p:cNvPr id="4" name="Picture 3"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20800" y="145729"/>
            <a:ext cx="7112000" cy="1016000"/>
          </a:xfrm>
          <a:prstGeom prst="rect">
            <a:avLst/>
          </a:prstGeom>
          <a:noFill/>
        </p:spPr>
        <p:txBody>
          <a:bodyPr wrap="square" lIns="0" rIns="0" tIns="0" bIns="0" anchor="t">
            <a:noAutofit/>
          </a:bodyPr>
          <a:lstStyle/>
          <a:p>
            <a:pPr algn="ctr" marL="0" indent="0">
              <a:buNone/>
            </a:pPr>
            <a:r>
              <a:rPr sz="3410">
                <a:solidFill>
                  <a:srgbClr val="000000"/>
                </a:solidFill>
                <a:latin typeface="Calibri"/>
              </a:rPr>
              <a:t>Research Methodology – Algorithm Explanation</a:t>
            </a:r>
          </a:p>
        </p:txBody>
      </p:sp>
      <p:sp>
        <p:nvSpPr>
          <p:cNvPr id="3" name="TextBox 2"/>
          <p:cNvSpPr txBox="1"/>
          <p:nvPr/>
        </p:nvSpPr>
        <p:spPr>
          <a:xfrm>
            <a:off x="762000" y="1192844"/>
            <a:ext cx="8915400" cy="5943600"/>
          </a:xfrm>
          <a:prstGeom prst="rect">
            <a:avLst/>
          </a:prstGeom>
          <a:noFill/>
        </p:spPr>
        <p:txBody>
          <a:bodyPr wrap="square" lIns="0" rIns="0" tIns="0" bIns="0" anchor="t">
            <a:noAutofit/>
          </a:bodyPr>
          <a:lstStyle/>
          <a:p>
            <a:pPr algn="l" marL="342900" indent="-342900">
              <a:lnSpc>
                <a:spcPct val="99153"/>
              </a:lnSpc>
              <a:buFont typeface="Arial"/>
              <a:buChar char="•"/>
            </a:pPr>
            <a:r>
              <a:rPr sz="3410">
                <a:solidFill>
                  <a:srgbClr val="000000"/>
                </a:solidFill>
                <a:latin typeface="Calibri"/>
              </a:rPr>
              <a:t>Algorithm: Machine Learning Based Emergency Detection</a:t>
            </a:r>
          </a:p>
          <a:p>
            <a:pPr algn="l" marL="342900" indent="-342900">
              <a:lnSpc>
                <a:spcPct val="99153"/>
              </a:lnSpc>
              <a:buFont typeface="Arial"/>
              <a:buChar char="•"/>
            </a:pPr>
            <a:r>
              <a:rPr sz="3410">
                <a:solidFill>
                  <a:srgbClr val="000000"/>
                </a:solidFill>
                <a:latin typeface="Calibri"/>
              </a:rPr>
              <a:t>Step 1: Collect data from sensors or mobile phone.</a:t>
            </a:r>
          </a:p>
          <a:p>
            <a:pPr algn="l" marL="342900" indent="-342900">
              <a:lnSpc>
                <a:spcPct val="99153"/>
              </a:lnSpc>
              <a:buFont typeface="Arial"/>
              <a:buChar char="•"/>
            </a:pPr>
            <a:r>
              <a:rPr sz="3410">
                <a:solidFill>
                  <a:srgbClr val="000000"/>
                </a:solidFill>
                <a:latin typeface="Calibri"/>
              </a:rPr>
              <a:t>Step 2: The system checks parameters such as:</a:t>
            </a:r>
          </a:p>
          <a:p>
            <a:pPr algn="l" marL="342900" indent="-342900">
              <a:lnSpc>
                <a:spcPct val="99153"/>
              </a:lnSpc>
              <a:buFont typeface="Arial"/>
              <a:buChar char="•"/>
            </a:pPr>
            <a:r>
              <a:rPr sz="3410">
                <a:solidFill>
                  <a:srgbClr val="000000"/>
                </a:solidFill>
                <a:latin typeface="Calibri"/>
              </a:rPr>
              <a:t>Sudden movement</a:t>
            </a:r>
          </a:p>
          <a:p>
            <a:pPr algn="l" marL="342900" indent="-342900">
              <a:lnSpc>
                <a:spcPct val="99153"/>
              </a:lnSpc>
              <a:buFont typeface="Arial"/>
              <a:buChar char="•"/>
            </a:pPr>
            <a:r>
              <a:rPr sz="3410">
                <a:solidFill>
                  <a:srgbClr val="000000"/>
                </a:solidFill>
                <a:latin typeface="Calibri"/>
              </a:rPr>
              <a:t>Fall detection</a:t>
            </a:r>
          </a:p>
          <a:p>
            <a:pPr algn="l" marL="342900" indent="-342900">
              <a:lnSpc>
                <a:spcPct val="99153"/>
              </a:lnSpc>
              <a:buFont typeface="Arial"/>
              <a:buChar char="•"/>
            </a:pPr>
            <a:r>
              <a:rPr sz="3410">
                <a:solidFill>
                  <a:srgbClr val="000000"/>
                </a:solidFill>
                <a:latin typeface="Calibri"/>
              </a:rPr>
              <a:t>Heart rate, if available</a:t>
            </a:r>
          </a:p>
          <a:p>
            <a:pPr algn="l" marL="342900" indent="-342900">
              <a:lnSpc>
                <a:spcPct val="99153"/>
              </a:lnSpc>
              <a:buFont typeface="Arial"/>
              <a:buChar char="•"/>
            </a:pPr>
            <a:r>
              <a:rPr sz="3410">
                <a:solidFill>
                  <a:srgbClr val="000000"/>
                </a:solidFill>
                <a:latin typeface="Calibri"/>
              </a:rPr>
              <a:t>Sound or abnormal activity</a:t>
            </a:r>
          </a:p>
          <a:p>
            <a:pPr algn="l" marL="342900" indent="-342900">
              <a:lnSpc>
                <a:spcPct val="99153"/>
              </a:lnSpc>
              <a:buFont typeface="Arial"/>
              <a:buChar char="•"/>
            </a:pPr>
            <a:r>
              <a:rPr sz="3410">
                <a:solidFill>
                  <a:srgbClr val="000000"/>
                </a:solidFill>
                <a:latin typeface="Calibri"/>
              </a:rPr>
              <a:t>GPS location</a:t>
            </a:r>
          </a:p>
          <a:p>
            <a:pPr algn="l" marL="342900" indent="-342900">
              <a:lnSpc>
                <a:spcPct val="99153"/>
              </a:lnSpc>
              <a:buFont typeface="Arial"/>
              <a:buChar char="•"/>
            </a:pPr>
            <a:r>
              <a:rPr sz="3410">
                <a:solidFill>
                  <a:srgbClr val="000000"/>
                </a:solidFill>
                <a:latin typeface="Calibri"/>
              </a:rPr>
              <a:t>Step 3: Preprocess the collected data.</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8500" y="682630"/>
            <a:ext cx="8470900" cy="6438900"/>
          </a:xfrm>
          <a:prstGeom prst="rect">
            <a:avLst/>
          </a:prstGeom>
          <a:noFill/>
        </p:spPr>
        <p:txBody>
          <a:bodyPr wrap="square" lIns="0" rIns="0" tIns="0" bIns="0" anchor="t">
            <a:noAutofit/>
          </a:bodyPr>
          <a:lstStyle/>
          <a:p>
            <a:pPr algn="l" marL="342900" indent="-342900">
              <a:lnSpc>
                <a:spcPct val="100355"/>
              </a:lnSpc>
              <a:buFont typeface="Arial"/>
              <a:buChar char="•"/>
            </a:pPr>
            <a:r>
              <a:rPr sz="3180">
                <a:solidFill>
                  <a:srgbClr val="000000"/>
                </a:solidFill>
                <a:latin typeface="Calibri"/>
              </a:rPr>
              <a:t>Step 4: Give the data to the machine learning model.</a:t>
            </a:r>
          </a:p>
          <a:p>
            <a:pPr algn="l" marL="342900" indent="-342900">
              <a:lnSpc>
                <a:spcPct val="100355"/>
              </a:lnSpc>
              <a:buFont typeface="Arial"/>
              <a:buChar char="•"/>
            </a:pPr>
            <a:r>
              <a:rPr sz="3180">
                <a:solidFill>
                  <a:srgbClr val="000000"/>
                </a:solidFill>
                <a:latin typeface="Calibri"/>
              </a:rPr>
              <a:t>Step 5: The model classifies the situation as:</a:t>
            </a:r>
          </a:p>
          <a:p>
            <a:pPr algn="l" marL="342900" indent="-342900">
              <a:lnSpc>
                <a:spcPct val="100355"/>
              </a:lnSpc>
              <a:buFont typeface="Arial"/>
              <a:buChar char="•"/>
            </a:pPr>
            <a:r>
              <a:rPr sz="3180">
                <a:solidFill>
                  <a:srgbClr val="000000"/>
                </a:solidFill>
                <a:latin typeface="Calibri"/>
              </a:rPr>
              <a:t>Normal</a:t>
            </a:r>
          </a:p>
          <a:p>
            <a:pPr algn="l" marL="342900" indent="-342900">
              <a:lnSpc>
                <a:spcPct val="100355"/>
              </a:lnSpc>
              <a:buFont typeface="Arial"/>
              <a:buChar char="•"/>
            </a:pPr>
            <a:r>
              <a:rPr sz="3180">
                <a:solidFill>
                  <a:srgbClr val="000000"/>
                </a:solidFill>
                <a:latin typeface="Calibri"/>
              </a:rPr>
              <a:t>Emergency</a:t>
            </a:r>
          </a:p>
          <a:p>
            <a:pPr algn="l" marL="342900" indent="-342900">
              <a:lnSpc>
                <a:spcPct val="100355"/>
              </a:lnSpc>
              <a:buFont typeface="Arial"/>
              <a:buChar char="•"/>
            </a:pPr>
            <a:r>
              <a:rPr sz="3180">
                <a:solidFill>
                  <a:srgbClr val="000000"/>
                </a:solidFill>
                <a:latin typeface="Calibri"/>
              </a:rPr>
              <a:t>Step 6: If it is normal, the system continues monitoring.</a:t>
            </a:r>
          </a:p>
          <a:p>
            <a:pPr algn="l" marL="342900" indent="-342900">
              <a:lnSpc>
                <a:spcPct val="100355"/>
              </a:lnSpc>
              <a:buFont typeface="Arial"/>
              <a:buChar char="•"/>
            </a:pPr>
            <a:r>
              <a:rPr sz="3180">
                <a:solidFill>
                  <a:srgbClr val="000000"/>
                </a:solidFill>
                <a:latin typeface="Calibri"/>
              </a:rPr>
              <a:t>Step 7: If it is an emergency, the system gets the GPS location.</a:t>
            </a:r>
          </a:p>
          <a:p>
            <a:pPr algn="l" marL="342900" indent="-342900">
              <a:lnSpc>
                <a:spcPct val="100355"/>
              </a:lnSpc>
              <a:buFont typeface="Arial"/>
              <a:buChar char="•"/>
            </a:pPr>
            <a:r>
              <a:rPr sz="3180">
                <a:solidFill>
                  <a:srgbClr val="000000"/>
                </a:solidFill>
                <a:latin typeface="Calibri"/>
              </a:rPr>
              <a:t>Step 8: An automatic alert is generated.</a:t>
            </a:r>
          </a:p>
          <a:p>
            <a:pPr algn="l" marL="342900" indent="-342900">
              <a:lnSpc>
                <a:spcPct val="100355"/>
              </a:lnSpc>
              <a:buFont typeface="Arial"/>
              <a:buChar char="•"/>
            </a:pPr>
            <a:r>
              <a:rPr sz="3180">
                <a:solidFill>
                  <a:srgbClr val="000000"/>
                </a:solidFill>
                <a:latin typeface="Calibri"/>
              </a:rPr>
              <a:t>Step 9: The alert is sent to emergency contacts.</a:t>
            </a:r>
          </a:p>
        </p:txBody>
      </p:sp>
      <p:pic>
        <p:nvPicPr>
          <p:cNvPr id="3" name="Picture 2" descr="1000004166.jpg"/>
          <p:cNvPicPr>
            <a:picLocks noChangeAspect="1"/>
          </p:cNvPicPr>
          <p:nvPr/>
        </p:nvPicPr>
        <p:blipFill>
          <a:blip r:embed="rId2"/>
          <a:stretch>
            <a:fillRect/>
          </a:stretch>
        </p:blipFill>
        <p:spPr>
          <a:xfrm>
            <a:off x="164592" y="164592"/>
            <a:ext cx="777240" cy="623917"/>
          </a:xfrm>
          <a:prstGeom prst="rect">
            <a:avLst/>
          </a:prstGeom>
        </p:spPr>
      </p:pic>
      <p:pic>
        <p:nvPicPr>
          <p:cNvPr id="4" name="Picture 3"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20800" y="168188"/>
            <a:ext cx="7112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Compare Algorithms</a:t>
            </a:r>
          </a:p>
        </p:txBody>
      </p:sp>
      <p:pic>
        <p:nvPicPr>
          <p:cNvPr id="3" name="Picture 2" descr="img-001.png"/>
          <p:cNvPicPr>
            <a:picLocks noChangeAspect="1"/>
          </p:cNvPicPr>
          <p:nvPr/>
        </p:nvPicPr>
        <p:blipFill>
          <a:blip r:embed="rId2"/>
          <a:stretch>
            <a:fillRect/>
          </a:stretch>
        </p:blipFill>
        <p:spPr>
          <a:xfrm>
            <a:off x="1447800" y="952500"/>
            <a:ext cx="6858000" cy="6261100"/>
          </a:xfrm>
          <a:prstGeom prst="rect">
            <a:avLst/>
          </a:prstGeom>
        </p:spPr>
      </p:pic>
      <p:pic>
        <p:nvPicPr>
          <p:cNvPr id="4" name="Picture 3" descr="1000004166.jpg"/>
          <p:cNvPicPr>
            <a:picLocks noChangeAspect="1"/>
          </p:cNvPicPr>
          <p:nvPr/>
        </p:nvPicPr>
        <p:blipFill>
          <a:blip r:embed="rId3"/>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4"/>
          <a:stretch>
            <a:fillRect/>
          </a:stretch>
        </p:blipFill>
        <p:spPr>
          <a:xfrm>
            <a:off x="8811768" y="164592"/>
            <a:ext cx="777240" cy="777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20800" y="296458"/>
            <a:ext cx="7112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Implementation Idea</a:t>
            </a:r>
          </a:p>
        </p:txBody>
      </p:sp>
      <p:sp>
        <p:nvSpPr>
          <p:cNvPr id="3" name="TextBox 2"/>
          <p:cNvSpPr txBox="1"/>
          <p:nvPr/>
        </p:nvSpPr>
        <p:spPr>
          <a:xfrm>
            <a:off x="431800" y="1735622"/>
            <a:ext cx="9245600" cy="5397500"/>
          </a:xfrm>
          <a:prstGeom prst="rect">
            <a:avLst/>
          </a:prstGeom>
          <a:noFill/>
        </p:spPr>
        <p:txBody>
          <a:bodyPr wrap="square" lIns="0" rIns="0" tIns="0" bIns="0" anchor="t">
            <a:noAutofit/>
          </a:bodyPr>
          <a:lstStyle/>
          <a:p>
            <a:pPr algn="l" marL="342900" indent="-342900">
              <a:lnSpc>
                <a:spcPct val="100492"/>
              </a:lnSpc>
              <a:buFont typeface="Arial"/>
              <a:buChar char="•"/>
            </a:pPr>
            <a:r>
              <a:rPr sz="2440">
                <a:solidFill>
                  <a:srgbClr val="000000"/>
                </a:solidFill>
                <a:latin typeface="Calibri"/>
              </a:rPr>
              <a:t>The system can be implemented as a mobile or IoT-based application.</a:t>
            </a:r>
          </a:p>
          <a:p>
            <a:pPr algn="l" marL="342900" indent="-342900">
              <a:lnSpc>
                <a:spcPct val="100492"/>
              </a:lnSpc>
              <a:buFont typeface="Arial"/>
              <a:buChar char="•"/>
            </a:pPr>
            <a:r>
              <a:rPr sz="2440">
                <a:solidFill>
                  <a:srgbClr val="000000"/>
                </a:solidFill>
                <a:latin typeface="Calibri"/>
              </a:rPr>
              <a:t>Basic Implementation</a:t>
            </a:r>
          </a:p>
          <a:p>
            <a:pPr algn="l" marL="342900" indent="-342900">
              <a:lnSpc>
                <a:spcPct val="100492"/>
              </a:lnSpc>
              <a:buFont typeface="Arial"/>
              <a:buChar char="•"/>
            </a:pPr>
            <a:r>
              <a:rPr sz="2440">
                <a:solidFill>
                  <a:srgbClr val="000000"/>
                </a:solidFill>
                <a:latin typeface="Calibri"/>
              </a:rPr>
              <a:t>Collect sensor data.</a:t>
            </a:r>
          </a:p>
          <a:p>
            <a:pPr algn="l" marL="342900" indent="-342900">
              <a:lnSpc>
                <a:spcPct val="100492"/>
              </a:lnSpc>
              <a:buFont typeface="Arial"/>
              <a:buChar char="•"/>
            </a:pPr>
            <a:r>
              <a:rPr sz="2440">
                <a:solidFill>
                  <a:srgbClr val="000000"/>
                </a:solidFill>
                <a:latin typeface="Calibri"/>
              </a:rPr>
              <a:t>Store the data in a database.</a:t>
            </a:r>
          </a:p>
          <a:p>
            <a:pPr algn="l" marL="342900" indent="-342900">
              <a:lnSpc>
                <a:spcPct val="100492"/>
              </a:lnSpc>
              <a:buFont typeface="Arial"/>
              <a:buChar char="•"/>
            </a:pPr>
            <a:r>
              <a:rPr sz="2440">
                <a:solidFill>
                  <a:srgbClr val="000000"/>
                </a:solidFill>
                <a:latin typeface="Calibri"/>
              </a:rPr>
              <a:t>Train the machine learning model.</a:t>
            </a:r>
          </a:p>
          <a:p>
            <a:pPr algn="l" marL="342900" indent="-342900">
              <a:lnSpc>
                <a:spcPct val="100492"/>
              </a:lnSpc>
              <a:buFont typeface="Arial"/>
              <a:buChar char="•"/>
            </a:pPr>
            <a:r>
              <a:rPr sz="2440">
                <a:solidFill>
                  <a:srgbClr val="000000"/>
                </a:solidFill>
                <a:latin typeface="Calibri"/>
              </a:rPr>
              <a:t>Detect normal/emergency conditions.</a:t>
            </a:r>
          </a:p>
          <a:p>
            <a:pPr algn="l" marL="342900" indent="-342900">
              <a:lnSpc>
                <a:spcPct val="100492"/>
              </a:lnSpc>
              <a:buFont typeface="Arial"/>
              <a:buChar char="•"/>
            </a:pPr>
            <a:r>
              <a:rPr sz="2440">
                <a:solidFill>
                  <a:srgbClr val="000000"/>
                </a:solidFill>
                <a:latin typeface="Calibri"/>
              </a:rPr>
              <a:t>Get the GPS location.</a:t>
            </a:r>
          </a:p>
          <a:p>
            <a:pPr algn="l" marL="342900" indent="-342900">
              <a:lnSpc>
                <a:spcPct val="100492"/>
              </a:lnSpc>
              <a:buFont typeface="Arial"/>
              <a:buChar char="•"/>
            </a:pPr>
            <a:r>
              <a:rPr sz="2440">
                <a:solidFill>
                  <a:srgbClr val="000000"/>
                </a:solidFill>
                <a:latin typeface="Calibri"/>
              </a:rPr>
              <a:t>Create an emergency message.</a:t>
            </a:r>
          </a:p>
          <a:p>
            <a:pPr algn="l" marL="342900" indent="-342900">
              <a:lnSpc>
                <a:spcPct val="100492"/>
              </a:lnSpc>
              <a:buFont typeface="Arial"/>
              <a:buChar char="•"/>
            </a:pPr>
            <a:r>
              <a:rPr sz="2440">
                <a:solidFill>
                  <a:srgbClr val="000000"/>
                </a:solidFill>
                <a:latin typeface="Calibri"/>
              </a:rPr>
              <a:t>Send the message to registered contacts.</a:t>
            </a:r>
          </a:p>
          <a:p>
            <a:pPr algn="l" marL="342900" indent="-342900">
              <a:lnSpc>
                <a:spcPct val="100492"/>
              </a:lnSpc>
              <a:buFont typeface="Arial"/>
              <a:buChar char="•"/>
            </a:pPr>
            <a:r>
              <a:rPr sz="2440">
                <a:solidFill>
                  <a:srgbClr val="000000"/>
                </a:solidFill>
                <a:latin typeface="Calibri"/>
              </a:rPr>
              <a:t>Display the emergency status in the application.</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032000" y="296458"/>
            <a:ext cx="5080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Modules</a:t>
            </a:r>
          </a:p>
        </p:txBody>
      </p:sp>
      <p:sp>
        <p:nvSpPr>
          <p:cNvPr id="3" name="TextBox 2"/>
          <p:cNvSpPr txBox="1"/>
          <p:nvPr/>
        </p:nvSpPr>
        <p:spPr>
          <a:xfrm>
            <a:off x="990600" y="1311361"/>
            <a:ext cx="8407400" cy="5842000"/>
          </a:xfrm>
          <a:prstGeom prst="rect">
            <a:avLst/>
          </a:prstGeom>
          <a:noFill/>
        </p:spPr>
        <p:txBody>
          <a:bodyPr wrap="square" lIns="0" rIns="0" tIns="0" bIns="0" anchor="t">
            <a:noAutofit/>
          </a:bodyPr>
          <a:lstStyle/>
          <a:p>
            <a:pPr algn="l" marL="342900" indent="-342900">
              <a:lnSpc>
                <a:spcPct val="99068"/>
              </a:lnSpc>
              <a:buFont typeface="Arial"/>
              <a:buChar char="•"/>
            </a:pPr>
            <a:r>
              <a:rPr sz="2810">
                <a:solidFill>
                  <a:srgbClr val="000000"/>
                </a:solidFill>
                <a:latin typeface="Calibri"/>
              </a:rPr>
              <a:t>Module 1 – Data Collection Module</a:t>
            </a:r>
          </a:p>
          <a:p>
            <a:pPr algn="l" marL="342900" indent="-342900">
              <a:lnSpc>
                <a:spcPct val="99068"/>
              </a:lnSpc>
              <a:buFont typeface="Arial"/>
              <a:buChar char="•"/>
            </a:pPr>
            <a:r>
              <a:rPr sz="2810">
                <a:solidFill>
                  <a:srgbClr val="000000"/>
                </a:solidFill>
                <a:latin typeface="Calibri"/>
              </a:rPr>
              <a:t>Collects sensor and user data.</a:t>
            </a:r>
          </a:p>
          <a:p>
            <a:pPr algn="l" marL="342900" indent="-342900">
              <a:lnSpc>
                <a:spcPct val="99068"/>
              </a:lnSpc>
              <a:buFont typeface="Arial"/>
              <a:buChar char="•"/>
            </a:pPr>
            <a:r>
              <a:rPr sz="2810">
                <a:solidFill>
                  <a:srgbClr val="000000"/>
                </a:solidFill>
                <a:latin typeface="Calibri"/>
              </a:rPr>
              <a:t>Uses mobile sensors or IoT sensors.</a:t>
            </a:r>
          </a:p>
          <a:p>
            <a:pPr algn="l" marL="342900" indent="-342900">
              <a:lnSpc>
                <a:spcPct val="99068"/>
              </a:lnSpc>
              <a:buFont typeface="Arial"/>
              <a:buChar char="•"/>
            </a:pPr>
            <a:r>
              <a:rPr sz="2810">
                <a:solidFill>
                  <a:srgbClr val="000000"/>
                </a:solidFill>
                <a:latin typeface="Calibri"/>
              </a:rPr>
              <a:t>Collects movement and activity information.</a:t>
            </a:r>
          </a:p>
          <a:p>
            <a:pPr algn="l" marL="342900" indent="-342900">
              <a:lnSpc>
                <a:spcPct val="99068"/>
              </a:lnSpc>
              <a:buFont typeface="Arial"/>
              <a:buChar char="•"/>
            </a:pPr>
            <a:r>
              <a:rPr sz="2810">
                <a:solidFill>
                  <a:srgbClr val="000000"/>
                </a:solidFill>
                <a:latin typeface="Calibri"/>
              </a:rPr>
              <a:t>Module 2 – Emergency Detection Module</a:t>
            </a:r>
          </a:p>
          <a:p>
            <a:pPr algn="l" marL="342900" indent="-342900">
              <a:lnSpc>
                <a:spcPct val="99068"/>
              </a:lnSpc>
              <a:buFont typeface="Arial"/>
              <a:buChar char="•"/>
            </a:pPr>
            <a:r>
              <a:rPr sz="2810">
                <a:solidFill>
                  <a:srgbClr val="000000"/>
                </a:solidFill>
                <a:latin typeface="Calibri"/>
              </a:rPr>
              <a:t>Checks the collected data.</a:t>
            </a:r>
          </a:p>
          <a:p>
            <a:pPr algn="l" marL="342900" indent="-342900">
              <a:lnSpc>
                <a:spcPct val="99068"/>
              </a:lnSpc>
              <a:buFont typeface="Arial"/>
              <a:buChar char="•"/>
            </a:pPr>
            <a:r>
              <a:rPr sz="2810">
                <a:solidFill>
                  <a:srgbClr val="000000"/>
                </a:solidFill>
                <a:latin typeface="Calibri"/>
              </a:rPr>
              <a:t>Identifies unusual or dangerous situations.</a:t>
            </a:r>
          </a:p>
          <a:p>
            <a:pPr algn="l" marL="342900" indent="-342900">
              <a:lnSpc>
                <a:spcPct val="99068"/>
              </a:lnSpc>
              <a:buFont typeface="Arial"/>
              <a:buChar char="•"/>
            </a:pPr>
            <a:r>
              <a:rPr sz="2810">
                <a:solidFill>
                  <a:srgbClr val="000000"/>
                </a:solidFill>
                <a:latin typeface="Calibri"/>
              </a:rPr>
              <a:t>Uses the machine learning model.</a:t>
            </a:r>
          </a:p>
          <a:p>
            <a:pPr algn="l" marL="342900" indent="-342900">
              <a:lnSpc>
                <a:spcPct val="99068"/>
              </a:lnSpc>
              <a:buFont typeface="Arial"/>
              <a:buChar char="•"/>
            </a:pPr>
            <a:r>
              <a:rPr sz="2810">
                <a:solidFill>
                  <a:srgbClr val="000000"/>
                </a:solidFill>
                <a:latin typeface="Calibri"/>
              </a:rPr>
              <a:t>Module 3 – Location Tracking Module</a:t>
            </a:r>
          </a:p>
          <a:p>
            <a:pPr algn="l" marL="342900" indent="-342900">
              <a:lnSpc>
                <a:spcPct val="99068"/>
              </a:lnSpc>
              <a:buFont typeface="Arial"/>
              <a:buChar char="•"/>
            </a:pPr>
            <a:r>
              <a:rPr sz="2810">
                <a:solidFill>
                  <a:srgbClr val="000000"/>
                </a:solidFill>
                <a:latin typeface="Calibri"/>
              </a:rPr>
              <a:t>Uses GPS.</a:t>
            </a:r>
          </a:p>
          <a:p>
            <a:pPr algn="l" marL="342900" indent="-342900">
              <a:lnSpc>
                <a:spcPct val="99068"/>
              </a:lnSpc>
              <a:buFont typeface="Arial"/>
              <a:buChar char="•"/>
            </a:pPr>
            <a:r>
              <a:rPr sz="2810">
                <a:solidFill>
                  <a:srgbClr val="000000"/>
                </a:solidFill>
                <a:latin typeface="Calibri"/>
              </a:rPr>
              <a:t>Finds the user's current location.</a:t>
            </a:r>
          </a:p>
          <a:p>
            <a:pPr algn="l" marL="342900" indent="-342900">
              <a:lnSpc>
                <a:spcPct val="99068"/>
              </a:lnSpc>
              <a:buFont typeface="Arial"/>
              <a:buChar char="•"/>
            </a:pPr>
            <a:r>
              <a:rPr sz="2810">
                <a:solidFill>
                  <a:srgbClr val="000000"/>
                </a:solidFill>
                <a:latin typeface="Calibri"/>
              </a:rPr>
              <a:t>Provides location information during an emergency.</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461048"/>
            <a:ext cx="9499600" cy="5651500"/>
          </a:xfrm>
          <a:prstGeom prst="rect">
            <a:avLst/>
          </a:prstGeom>
          <a:noFill/>
        </p:spPr>
        <p:txBody>
          <a:bodyPr wrap="square" lIns="0" rIns="0" tIns="0" bIns="0" anchor="t">
            <a:noAutofit/>
          </a:bodyPr>
          <a:lstStyle/>
          <a:p>
            <a:pPr algn="l" marL="0" indent="0">
              <a:lnSpc>
                <a:spcPct val="100070"/>
              </a:lnSpc>
              <a:buNone/>
            </a:pPr>
            <a:r>
              <a:rPr sz="3440">
                <a:solidFill>
                  <a:srgbClr val="000000"/>
                </a:solidFill>
                <a:latin typeface="Calibri"/>
              </a:rPr>
              <a:t>Module 4 – Alert Generation Module</a:t>
            </a:r>
          </a:p>
          <a:p>
            <a:pPr algn="l" marL="0" indent="0">
              <a:lnSpc>
                <a:spcPct val="100070"/>
              </a:lnSpc>
              <a:buNone/>
            </a:pPr>
            <a:r>
              <a:rPr sz="3440">
                <a:solidFill>
                  <a:srgbClr val="000000"/>
                </a:solidFill>
                <a:latin typeface="Calibri"/>
              </a:rPr>
              <a:t>Creates an emergency alert.</a:t>
            </a:r>
          </a:p>
          <a:p>
            <a:pPr algn="l" marL="0" indent="0">
              <a:lnSpc>
                <a:spcPct val="100070"/>
              </a:lnSpc>
              <a:buNone/>
            </a:pPr>
            <a:r>
              <a:rPr sz="3440">
                <a:solidFill>
                  <a:srgbClr val="000000"/>
                </a:solidFill>
                <a:latin typeface="Calibri"/>
              </a:rPr>
              <a:t>Adds important information such as location.</a:t>
            </a:r>
          </a:p>
          <a:p>
            <a:pPr algn="l" marL="0" indent="0">
              <a:lnSpc>
                <a:spcPct val="100070"/>
              </a:lnSpc>
              <a:buNone/>
            </a:pPr>
            <a:r>
              <a:rPr sz="3440">
                <a:solidFill>
                  <a:srgbClr val="000000"/>
                </a:solidFill>
                <a:latin typeface="Calibri"/>
              </a:rPr>
              <a:t>Prepares the message automatically.</a:t>
            </a:r>
          </a:p>
          <a:p>
            <a:pPr algn="l" marL="0" indent="0">
              <a:lnSpc>
                <a:spcPct val="100070"/>
              </a:lnSpc>
              <a:buNone/>
            </a:pPr>
            <a:r>
              <a:rPr sz="3440">
                <a:solidFill>
                  <a:srgbClr val="000000"/>
                </a:solidFill>
                <a:latin typeface="Calibri"/>
              </a:rPr>
              <a:t>Module 5 – Notification Module</a:t>
            </a:r>
          </a:p>
          <a:p>
            <a:pPr algn="l" marL="0" indent="0">
              <a:lnSpc>
                <a:spcPct val="100070"/>
              </a:lnSpc>
              <a:buNone/>
            </a:pPr>
            <a:r>
              <a:rPr sz="3440">
                <a:solidFill>
                  <a:srgbClr val="000000"/>
                </a:solidFill>
                <a:latin typeface="Calibri"/>
              </a:rPr>
              <a:t>Sends the alert to emergency contacts.</a:t>
            </a:r>
          </a:p>
          <a:p>
            <a:pPr algn="l" marL="0" indent="0">
              <a:lnSpc>
                <a:spcPct val="100070"/>
              </a:lnSpc>
              <a:buNone/>
            </a:pPr>
            <a:r>
              <a:rPr sz="3440">
                <a:solidFill>
                  <a:srgbClr val="000000"/>
                </a:solidFill>
                <a:latin typeface="Calibri"/>
              </a:rPr>
              <a:t>Can use SMS, mobile notification, or app notification.</a:t>
            </a:r>
          </a:p>
          <a:p>
            <a:pPr algn="l" marL="0" indent="0">
              <a:lnSpc>
                <a:spcPct val="100070"/>
              </a:lnSpc>
              <a:buNone/>
            </a:pPr>
            <a:r>
              <a:rPr sz="3440">
                <a:solidFill>
                  <a:srgbClr val="000000"/>
                </a:solidFill>
                <a:latin typeface="Calibri"/>
              </a:rPr>
              <a:t>Helps family members respond quickly.</a:t>
            </a:r>
          </a:p>
        </p:txBody>
      </p:sp>
      <p:pic>
        <p:nvPicPr>
          <p:cNvPr id="3" name="Picture 2" descr="1000004166.jpg"/>
          <p:cNvPicPr>
            <a:picLocks noChangeAspect="1"/>
          </p:cNvPicPr>
          <p:nvPr/>
        </p:nvPicPr>
        <p:blipFill>
          <a:blip r:embed="rId2"/>
          <a:stretch>
            <a:fillRect/>
          </a:stretch>
        </p:blipFill>
        <p:spPr>
          <a:xfrm>
            <a:off x="164592" y="164592"/>
            <a:ext cx="777240" cy="623917"/>
          </a:xfrm>
          <a:prstGeom prst="rect">
            <a:avLst/>
          </a:prstGeom>
        </p:spPr>
      </p:pic>
      <p:pic>
        <p:nvPicPr>
          <p:cNvPr id="4" name="Picture 3"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36800" y="296458"/>
            <a:ext cx="5080000" cy="774319"/>
          </a:xfrm>
          <a:prstGeom prst="rect">
            <a:avLst/>
          </a:prstGeom>
          <a:noFill/>
        </p:spPr>
        <p:txBody>
          <a:bodyPr wrap="square" lIns="0" rIns="0" tIns="0" bIns="0" anchor="t">
            <a:noAutofit/>
          </a:bodyPr>
          <a:lstStyle/>
          <a:p>
            <a:pPr algn="ctr" marL="0" indent="0">
              <a:buNone/>
            </a:pPr>
            <a:r>
              <a:rPr sz="4690">
                <a:solidFill>
                  <a:srgbClr val="000000"/>
                </a:solidFill>
                <a:latin typeface="Calibri"/>
              </a:rPr>
              <a:t>Conclusion</a:t>
            </a:r>
          </a:p>
        </p:txBody>
      </p:sp>
      <p:sp>
        <p:nvSpPr>
          <p:cNvPr id="3" name="TextBox 2"/>
          <p:cNvSpPr txBox="1"/>
          <p:nvPr/>
        </p:nvSpPr>
        <p:spPr>
          <a:xfrm>
            <a:off x="393700" y="1794479"/>
            <a:ext cx="9334500" cy="5346700"/>
          </a:xfrm>
          <a:prstGeom prst="rect">
            <a:avLst/>
          </a:prstGeom>
          <a:noFill/>
        </p:spPr>
        <p:txBody>
          <a:bodyPr wrap="square" lIns="0" rIns="0" tIns="0" bIns="0" anchor="t">
            <a:noAutofit/>
          </a:bodyPr>
          <a:lstStyle/>
          <a:p>
            <a:pPr algn="l" marL="342900" indent="-342900">
              <a:lnSpc>
                <a:spcPct val="98613"/>
              </a:lnSpc>
              <a:buFont typeface="Arial"/>
              <a:buChar char="•"/>
            </a:pPr>
            <a:r>
              <a:rPr sz="3420">
                <a:solidFill>
                  <a:srgbClr val="000000"/>
                </a:solidFill>
                <a:latin typeface="Calibri"/>
              </a:rPr>
              <a:t>The Automatic Emergency Alert System helps detect emergency situations automatically. The system uses sensors, GPS, and machine learning to identify dangerous conditions. When an emergency is detected, it sends an alert and location to selected contacts. This reduces delay and helps provide quick assistance and improved personal safety.</a:t>
            </a:r>
          </a:p>
        </p:txBody>
      </p:sp>
      <p:pic>
        <p:nvPicPr>
          <p:cNvPr id="4" name="Picture 3" descr="1000004166.jpg"/>
          <p:cNvPicPr>
            <a:picLocks noChangeAspect="1"/>
          </p:cNvPicPr>
          <p:nvPr/>
        </p:nvPicPr>
        <p:blipFill>
          <a:blip r:embed="rId2"/>
          <a:stretch>
            <a:fillRect/>
          </a:stretch>
        </p:blipFill>
        <p:spPr>
          <a:xfrm>
            <a:off x="164592" y="164592"/>
            <a:ext cx="777240" cy="623917"/>
          </a:xfrm>
          <a:prstGeom prst="rect">
            <a:avLst/>
          </a:prstGeom>
        </p:spPr>
      </p:pic>
      <p:pic>
        <p:nvPicPr>
          <p:cNvPr id="5" name="Picture 4" descr="1000004169.jpg"/>
          <p:cNvPicPr>
            <a:picLocks noChangeAspect="1"/>
          </p:cNvPicPr>
          <p:nvPr/>
        </p:nvPicPr>
        <p:blipFill>
          <a:blip r:embed="rId3"/>
          <a:stretch>
            <a:fillRect/>
          </a:stretch>
        </p:blipFill>
        <p:spPr>
          <a:xfrm>
            <a:off x="8811768" y="164592"/>
            <a:ext cx="777240" cy="777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